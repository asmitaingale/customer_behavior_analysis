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2B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Gloves</c:v>
                  </c:pt>
                  <c:pt idx="1">
                    <c:v>Sandals</c:v>
                  </c:pt>
                  <c:pt idx="2">
                    <c:v>Boots</c:v>
                  </c:pt>
                  <c:pt idx="3">
                    <c:v>Hat</c:v>
                  </c:pt>
                  <c:pt idx="4">
                    <c:v>Skirt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9"/>
          <c:min val="3.7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Subscribed (27%)</c:v>
                </c:pt>
                <c:pt idx="1">
                  <c:v>Non-Subscribed (73%)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1053</c:v>
                </c:pt>
                <c:pt idx="1">
                  <c:v>2847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9F6E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%</c:v>
                </c:pt>
              </c:strCache>
            </c:strRef>
          </c:tx>
          <c:spPr>
            <a:solidFill>
              <a:srgbClr val="1A2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1"/>
          <c:min val="46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insights from 3,900 transactions across product categories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guide strategic business decisions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PostgreSQL  ·  Power BI  ·  3,900 Records  ·  18 Features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Achieve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Spending Patterns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81051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purchase amounts by gender, age group, category, and shipping preference.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71500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15000" y="181051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customers as New, Returning, or Loyal based on purchase history.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🛍️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Preferences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63931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top-rated and best-selling products within each category.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01752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1500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Behavior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5000" y="363931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subscribers vs non-subscribers on spend and revenue contribution.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508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508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(Review Rating)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27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493008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Gender · Location · Subscription Status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301752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127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Details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493008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· Category · Amount · Season · Size · Color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127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Behavior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3493008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 · Previous Purchases · Frequency · Rating · Shipping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&amp; Preparation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9903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9848" y="1234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61848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3,900-row dataset using pandas with initial .info() and .describe() exploration.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7919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9848" y="2514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 Handling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9848" y="28986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37 null Review Rating values using category-level median ratings.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7033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9593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69848" y="3794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Standardization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417880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all columns to snake_case for consistent documentation and readability.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11430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39903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50408" y="1234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50408" y="161848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(age bins) and purchase_frequency_days from raw purchase data.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4231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267919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50408" y="2514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Consistency Check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50408" y="28986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discount_applied = promo_code_used; dropped redundant promo_code_used column.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7033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9593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50408" y="3794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50408" y="417880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cleaned DataFrame into PostgreSQL via Python script for SQL-based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Revenue, Ratings &amp; Shipping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Gender (USD)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481328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Products by Avg Rating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617720" y="1481328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320040" y="3858768"/>
            <a:ext cx="8503920" cy="1051560"/>
          </a:xfrm>
          <a:prstGeom prst="roundRect">
            <a:avLst>
              <a:gd name="adj" fmla="val 8696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40050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Insight:  Express shipping customers average $60.48 vs Standard at $58.46 — these users show higher willingness to spend.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Status &amp; Customer Segmentation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Split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508760"/>
          <a:ext cx="40233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17720" y="16002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70992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21808" y="1709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21808" y="2011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customers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0" y="17647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79.9%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617720" y="2404872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251460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21808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21808" y="2816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customers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0" y="25694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18.0%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4617720" y="3209544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3319272"/>
            <a:ext cx="457200" cy="45720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21808" y="3319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21808" y="36210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customers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315200" y="33741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2.1%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320040" y="411480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2062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Subscribers average $59.49 spend vs $59.87 for non-subscribers — revenue gap is driven by volume, not per-transaction spend.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Age Group &amp; Discount-Dependent Products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Age Group (USD)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481328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Discount-Dependent Products (%)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617720" y="1481328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320040" y="3977640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07822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high-spending discount users identified — customers who applied discounts yet spent above the average purchase amount of $59.76.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Products per Category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41148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16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71800" y="1737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orders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08483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0848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20848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orders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432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4323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1800" y="2432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orders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14300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14300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417320"/>
            <a:ext cx="4114800" cy="2011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216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Accessories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17373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1737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52360" y="1737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orders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08483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20848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Sunglasses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52360" y="20848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orders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432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24323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52360" y="2432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orders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0632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06324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337560"/>
            <a:ext cx="411480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136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Footwear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365760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971800" y="3657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orders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0050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" y="40050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971800" y="4005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orders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43525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" y="43525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971800" y="43525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orders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30632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306324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3337560"/>
            <a:ext cx="411480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3136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Outerwear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983480" y="365760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0352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452360" y="3657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orders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83480" y="40050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303520" y="40050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452360" y="4005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orders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983480" y="43525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03520" y="43525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Hoodie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452360" y="43525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orders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216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 Subscriptions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subscribe. Promote exclusive discounts, early access, and free shipping to convert the 73% non-subscribers.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99248" y="1252728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99248" y="12618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911096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025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1984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Loyalty Programs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repeat buyers with points or tier benefits to retain 3,116 Loyal customers and upgrade 701 Returning buyers.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99248" y="2020824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9248" y="2029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679192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7706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2752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Discount Policy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0449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(50%) and Sneakers (49.7%) have very high discount rates. Balance promotional spend against margin impact.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99248" y="2788920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9248" y="279806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44728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5387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05840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Marketing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8130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campaigns on Young Adults ($62K revenue) and Express-shipping users who demonstrate higher spending willingness.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99248" y="3557016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99248" y="35661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4215384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30682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5840" y="42885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Positioning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458114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Gloves (3.86★), Sandals (3.84★), and Boots (3.82★) — top-rated products — prominently in campaigns.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99248" y="4325112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99248" y="43342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933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account for ~68% of total revenue ($157,890 vs $75,191 for female).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4505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are the highest-revenue age group, contributing $62,143 in total sales.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8094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9077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customers are classified as Loyal — a strong, retainable base to monetize.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3649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penetration is only 27%, presenting a significant growth opportunity.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221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 users spend more ($60.48), signaling a premium customer segment.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5254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2793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applied to ~50% of key product purchases — a policy review is warranted.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with Python  ·  PostgreSQL  ·  Power BI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PptxGenJS</cp:lastModifiedBy>
  <cp:revision>1</cp:revision>
  <dcterms:created xsi:type="dcterms:W3CDTF">2026-06-23T09:14:25Z</dcterms:created>
  <dcterms:modified xsi:type="dcterms:W3CDTF">2026-06-23T09:14:25Z</dcterms:modified>
</cp:coreProperties>
</file>